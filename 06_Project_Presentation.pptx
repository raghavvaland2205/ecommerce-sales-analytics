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ontserrat Bold" panose="020B0604020202020204" charset="0"/>
      <p:regular r:id="rId13"/>
    </p:embeddedFont>
    <p:embeddedFont>
      <p:font typeface="Montserrat Light" panose="00000400000000000000" pitchFamily="2" charset="0"/>
      <p:regular r:id="rId14"/>
      <p:italic r:id="rId15"/>
    </p:embeddedFont>
    <p:embeddedFont>
      <p:font typeface="Source Sans 3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59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874" y="1440433"/>
            <a:ext cx="4635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Shipping Behavior &amp; Satisfaction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68874" y="2548384"/>
            <a:ext cx="463525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data-driven analysis of 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uncovering the drivers of customer lifetime value, fulfillment preferences, and subscription adoption.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968874" y="3420740"/>
            <a:ext cx="1184672" cy="277564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7" name="Text 4"/>
          <p:cNvSpPr/>
          <p:nvPr/>
        </p:nvSpPr>
        <p:spPr>
          <a:xfrm>
            <a:off x="4061371" y="3466951"/>
            <a:ext cx="145687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ANALYTICS REPORT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230639" y="3415978"/>
            <a:ext cx="1486684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27899" y="3473797"/>
            <a:ext cx="130872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9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· SQL · POWER BI </a:t>
            </a:r>
            <a:endParaRPr lang="en-US" sz="95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668D20BD-0A3F-4C13-6A7B-7A7E10669B87}"/>
              </a:ext>
            </a:extLst>
          </p:cNvPr>
          <p:cNvSpPr/>
          <p:nvPr/>
        </p:nvSpPr>
        <p:spPr>
          <a:xfrm>
            <a:off x="0" y="4853024"/>
            <a:ext cx="9144000" cy="287089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570" y="379437"/>
            <a:ext cx="5515942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ETL Pipeline &amp; Data Architecture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05" y="968722"/>
            <a:ext cx="8097515" cy="3491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8039" y="3808872"/>
            <a:ext cx="1669954" cy="20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68039" y="3000558"/>
            <a:ext cx="1669954" cy="20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Standardize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68039" y="2200409"/>
            <a:ext cx="1669954" cy="20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68039" y="1392096"/>
            <a:ext cx="1669954" cy="20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Ingest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9570" y="4577095"/>
            <a:ext cx="862206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Median imputation preserved statistical accuracy. Engineered features: </a:t>
            </a: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age_group</a:t>
            </a: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purchase_frequency_days</a:t>
            </a: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behavioral segmentation.</a:t>
            </a:r>
            <a:endParaRPr lang="en-US" sz="10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B6D1CF7-5B05-5F9E-9F21-0B607D6F8CB7}"/>
              </a:ext>
            </a:extLst>
          </p:cNvPr>
          <p:cNvSpPr/>
          <p:nvPr/>
        </p:nvSpPr>
        <p:spPr>
          <a:xfrm>
            <a:off x="0" y="4859452"/>
            <a:ext cx="9144000" cy="273541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75" y="394469"/>
            <a:ext cx="4353223" cy="362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Subscription Paradox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75" y="1035025"/>
            <a:ext cx="3851002" cy="2771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2586" y="1021779"/>
            <a:ext cx="197390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Conversion Gap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32586" y="1308943"/>
            <a:ext cx="3851002" cy="35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2,518</a:t>
            </a: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repeat buyers (5+ purchases) are not subscribed — yet they drive the majority of revenue.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887" y="4009755"/>
            <a:ext cx="3968204" cy="7040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19" y="4186907"/>
            <a:ext cx="14517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$170,436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50019" y="4431804"/>
            <a:ext cx="3627090" cy="17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from non-subscribers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546" y="4016789"/>
            <a:ext cx="3968279" cy="7040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9679" y="4186907"/>
            <a:ext cx="14517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$62,645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809679" y="4431804"/>
            <a:ext cx="3627165" cy="17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from subscribers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FE7BE6C-0C61-F5D3-14A7-A5540639358A}"/>
              </a:ext>
            </a:extLst>
          </p:cNvPr>
          <p:cNvSpPr/>
          <p:nvPr/>
        </p:nvSpPr>
        <p:spPr>
          <a:xfrm>
            <a:off x="0" y="4812432"/>
            <a:ext cx="9144000" cy="331068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874" y="848097"/>
            <a:ext cx="4635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AOV Inversion: A Critical Signal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68874" y="1956048"/>
            <a:ext cx="4635252" cy="1703040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3968874" y="1956048"/>
            <a:ext cx="4635252" cy="85152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4123134" y="211030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23134" y="2421954"/>
            <a:ext cx="432673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$59.87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Average Order Value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68874" y="2807568"/>
            <a:ext cx="4635252" cy="85152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3968874" y="2807568"/>
            <a:ext cx="4635252" cy="19050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4123134" y="296182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23134" y="3273475"/>
            <a:ext cx="432673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$59.49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Average Order Value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68874" y="3832622"/>
            <a:ext cx="4635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outspend subscribers — the subscription value proposition is not compelling enough to justify conversion.</a:t>
            </a:r>
            <a:endParaRPr lang="en-US" sz="12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FC8C058-73B3-1870-5B85-90A1B618B726}"/>
              </a:ext>
            </a:extLst>
          </p:cNvPr>
          <p:cNvSpPr/>
          <p:nvPr/>
        </p:nvSpPr>
        <p:spPr>
          <a:xfrm>
            <a:off x="0" y="4873177"/>
            <a:ext cx="9144000" cy="270359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570" y="361652"/>
            <a:ext cx="519648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Demographic Revenue Drivers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70" y="1019547"/>
            <a:ext cx="3923630" cy="28242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5562" y="1005780"/>
            <a:ext cx="213709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Gender Revenue Split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35562" y="1300460"/>
            <a:ext cx="3923630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 </a:t>
            </a: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2.1× more revenue</a:t>
            </a: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than female customers. Young Adults lead all age cohorts.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89570" y="4090839"/>
            <a:ext cx="4027512" cy="691009"/>
          </a:xfrm>
          <a:prstGeom prst="roundRect">
            <a:avLst>
              <a:gd name="adj" fmla="val 2826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619720" y="4220989"/>
            <a:ext cx="147912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9720" y="4471764"/>
            <a:ext cx="376721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$157,890</a:t>
            </a: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Primary driver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26843" y="4090839"/>
            <a:ext cx="4027587" cy="691009"/>
          </a:xfrm>
          <a:prstGeom prst="roundRect">
            <a:avLst>
              <a:gd name="adj" fmla="val 2826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4756993" y="4220989"/>
            <a:ext cx="147912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Female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56993" y="4471764"/>
            <a:ext cx="376728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$75,191</a:t>
            </a: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Underpenetrated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CB10BF1-F533-D1A4-344A-B1BEED4A868D}"/>
              </a:ext>
            </a:extLst>
          </p:cNvPr>
          <p:cNvSpPr/>
          <p:nvPr/>
        </p:nvSpPr>
        <p:spPr>
          <a:xfrm>
            <a:off x="21058" y="4847704"/>
            <a:ext cx="9122942" cy="285032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79921"/>
            <a:ext cx="673722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Discount Sensitivity &amp; Margin Risk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523107"/>
            <a:ext cx="3843933" cy="2766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503834"/>
            <a:ext cx="3407494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839 High-Value Bargain Hunters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77244"/>
            <a:ext cx="3843933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who used discounts yet still exceeded the 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average purchase amount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discounts drive upsells, not just margin erosion.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64956" y="2744837"/>
            <a:ext cx="3843933" cy="1048717"/>
          </a:xfrm>
          <a:prstGeom prst="roundRect">
            <a:avLst>
              <a:gd name="adj" fmla="val 2207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216" y="2964582"/>
            <a:ext cx="192807" cy="1542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66283" y="2922166"/>
            <a:ext cx="3188345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5 SKUs rely on ~50% discounts to move inventory. Base pricing or bundling review is urgent.</a:t>
            </a:r>
            <a:endParaRPr lang="en-US" sz="12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4C841DE-F86A-1089-FC4B-280727E463BE}"/>
              </a:ext>
            </a:extLst>
          </p:cNvPr>
          <p:cNvSpPr/>
          <p:nvPr/>
        </p:nvSpPr>
        <p:spPr>
          <a:xfrm>
            <a:off x="0" y="4811151"/>
            <a:ext cx="9144000" cy="332349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75" y="394469"/>
            <a:ext cx="5939358" cy="362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Category Performance &amp; Fulfillment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75" y="1035025"/>
            <a:ext cx="3851002" cy="2771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2586" y="1021779"/>
            <a:ext cx="27419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Fulfillment Preference Impact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32586" y="1308943"/>
            <a:ext cx="3851002" cy="35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customers spend </a:t>
            </a: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$2.02 more</a:t>
            </a: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 average — a natural upsell opportunity.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5175" y="4044925"/>
            <a:ext cx="3953917" cy="70403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7157" y="4186907"/>
            <a:ext cx="14517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Express Shipping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7157" y="4431804"/>
            <a:ext cx="3669953" cy="17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AOV: </a:t>
            </a: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$60.48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24834" y="4044925"/>
            <a:ext cx="3953991" cy="70403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66816" y="4186907"/>
            <a:ext cx="14517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Standard Shipping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66816" y="4431804"/>
            <a:ext cx="3670027" cy="17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AOV: </a:t>
            </a:r>
            <a:r>
              <a:rPr lang="en-US" sz="1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$58.46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9CB5B79-6259-82DE-D476-1FEC8B3239DB}"/>
              </a:ext>
            </a:extLst>
          </p:cNvPr>
          <p:cNvSpPr/>
          <p:nvPr/>
        </p:nvSpPr>
        <p:spPr>
          <a:xfrm>
            <a:off x="0" y="4812432"/>
            <a:ext cx="9144000" cy="321468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038" y="97557"/>
            <a:ext cx="3298924" cy="4948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5563" y="392460"/>
            <a:ext cx="4882679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Recommendations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5563" y="926827"/>
            <a:ext cx="26030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5563" y="1133698"/>
            <a:ext cx="480387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7" name="Text 4"/>
          <p:cNvSpPr/>
          <p:nvPr/>
        </p:nvSpPr>
        <p:spPr>
          <a:xfrm>
            <a:off x="455563" y="1227311"/>
            <a:ext cx="2204814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Overhaul Subscription Value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5563" y="1478087"/>
            <a:ext cx="480387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A/B test perks — gate Express shipping or exclusive discounts to convert 2,518 repeat buyers.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5563" y="2045271"/>
            <a:ext cx="26030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5563" y="2252142"/>
            <a:ext cx="480387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1" name="Text 8"/>
          <p:cNvSpPr/>
          <p:nvPr/>
        </p:nvSpPr>
        <p:spPr>
          <a:xfrm>
            <a:off x="455563" y="2345754"/>
            <a:ext cx="214282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Optimize Discount Strategy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5563" y="2596530"/>
            <a:ext cx="480387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pricing for top 5 discount-dependent SKUs. Bundle with high-margin items.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5563" y="2983781"/>
            <a:ext cx="26030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5563" y="3190652"/>
            <a:ext cx="480387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" name="Text 12"/>
          <p:cNvSpPr/>
          <p:nvPr/>
        </p:nvSpPr>
        <p:spPr>
          <a:xfrm>
            <a:off x="455563" y="3284265"/>
            <a:ext cx="1603846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Reallocate Ad Spend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5563" y="3535040"/>
            <a:ext cx="480387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 Male Young Adults — highest CLV and revenue cohort.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5563" y="3922291"/>
            <a:ext cx="26030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5563" y="4129162"/>
            <a:ext cx="480387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9" name="Text 16"/>
          <p:cNvSpPr/>
          <p:nvPr/>
        </p:nvSpPr>
        <p:spPr>
          <a:xfrm>
            <a:off x="455563" y="4222775"/>
            <a:ext cx="1984921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Leverage Top-Rated SKUs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5563" y="4473550"/>
            <a:ext cx="480387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Gloves &amp; Sandals in front-page campaigns to boost brand perception.</a:t>
            </a:r>
            <a:endParaRPr lang="en-US" sz="10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87FA662-B27F-1886-5F44-12E37D14A438}"/>
              </a:ext>
            </a:extLst>
          </p:cNvPr>
          <p:cNvSpPr/>
          <p:nvPr/>
        </p:nvSpPr>
        <p:spPr>
          <a:xfrm>
            <a:off x="0" y="4795949"/>
            <a:ext cx="9144000" cy="345578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22188"/>
            <a:ext cx="4740399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Metrics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546101"/>
            <a:ext cx="3935685" cy="50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3,900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75929" y="2247900"/>
            <a:ext cx="206357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Transactions Analyzed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9874" y="2559546"/>
            <a:ext cx="393568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all product lines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8366" y="1546101"/>
            <a:ext cx="3935760" cy="50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2,518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346204" y="2247900"/>
            <a:ext cx="2580010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Unconverted Repeat Buyers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8366" y="2559546"/>
            <a:ext cx="3935760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5+ purchases, not subscribed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874" y="3176513"/>
            <a:ext cx="3935685" cy="50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$233K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468562" y="3878312"/>
            <a:ext cx="207823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Revenue Tracked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9874" y="4189958"/>
            <a:ext cx="393568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$170K non-subscribers · $63K subscribers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8366" y="3176513"/>
            <a:ext cx="3935760" cy="50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839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11688" y="3878312"/>
            <a:ext cx="244911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High-Value Discount Users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8366" y="4189958"/>
            <a:ext cx="3935760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Exceeded global avg purchase amount</a:t>
            </a:r>
            <a:endParaRPr lang="en-US" sz="12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BFEA455-D3FB-9928-5F3D-4C434E1565A6}"/>
              </a:ext>
            </a:extLst>
          </p:cNvPr>
          <p:cNvSpPr/>
          <p:nvPr/>
        </p:nvSpPr>
        <p:spPr>
          <a:xfrm>
            <a:off x="0" y="4818185"/>
            <a:ext cx="9144000" cy="328291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874" y="754038"/>
            <a:ext cx="4592464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From Insight to Action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68874" y="1423690"/>
            <a:ext cx="463525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analysis transforms raw transactional data into a 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growth roadmap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closing the subscription gap, protecting margins, and targeting the highest-value customer segments.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968874" y="2291283"/>
            <a:ext cx="2240459" cy="1087636"/>
          </a:xfrm>
          <a:prstGeom prst="roundRect">
            <a:avLst>
              <a:gd name="adj" fmla="val 212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4123134" y="2445544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🔁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Convert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23134" y="2761952"/>
            <a:ext cx="193193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2,518 loyal buyers → subscribers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63593" y="2291283"/>
            <a:ext cx="2240533" cy="1087636"/>
          </a:xfrm>
          <a:prstGeom prst="roundRect">
            <a:avLst>
              <a:gd name="adj" fmla="val 2128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517853" y="2445544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🎯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Target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17853" y="2761952"/>
            <a:ext cx="193201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Young Adults for maximum ROI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68874" y="3533180"/>
            <a:ext cx="4635252" cy="856283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4123134" y="3687440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🛡️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Protect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123134" y="4003849"/>
            <a:ext cx="432673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Margin via smarter discount strategy</a:t>
            </a:r>
            <a:endParaRPr lang="en-US" sz="12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28AB6022-339C-30E5-CFF8-0F70CF1DF615}"/>
              </a:ext>
            </a:extLst>
          </p:cNvPr>
          <p:cNvSpPr/>
          <p:nvPr/>
        </p:nvSpPr>
        <p:spPr>
          <a:xfrm>
            <a:off x="0" y="4794349"/>
            <a:ext cx="9144000" cy="349150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433</Words>
  <Application>Microsoft Office PowerPoint</Application>
  <PresentationFormat>On-screen Show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Source Sans 3</vt:lpstr>
      <vt:lpstr>Montserrat Bold</vt:lpstr>
      <vt:lpstr>Arial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Raghav Valand</cp:lastModifiedBy>
  <cp:revision>2</cp:revision>
  <dcterms:created xsi:type="dcterms:W3CDTF">2026-06-11T08:42:41Z</dcterms:created>
  <dcterms:modified xsi:type="dcterms:W3CDTF">2026-06-11T11:34:19Z</dcterms:modified>
</cp:coreProperties>
</file>